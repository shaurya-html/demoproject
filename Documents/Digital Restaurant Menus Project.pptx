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5"/>
  </p:notesMasterIdLst>
  <p:sldIdLst>
    <p:sldId id="256" r:id="rId2"/>
    <p:sldId id="257" r:id="rId3"/>
    <p:sldId id="258" r:id="rId4"/>
  </p:sldIdLst>
  <p:sldSz cx="9144000" cy="5143500" type="screen16x9"/>
  <p:notesSz cx="6858000" cy="9144000"/>
  <p:embeddedFontLst>
    <p:embeddedFont>
      <p:font typeface="Inter" panose="020B0604020202020204" charset="0"/>
      <p:regular r:id="rId6"/>
      <p:bold r:id="rId7"/>
      <p:italic r:id="rId8"/>
      <p:boldItalic r:id="rId9"/>
    </p:embeddedFont>
    <p:embeddedFont>
      <p:font typeface="Inter ExtraBold" panose="020B0604020202020204" charset="0"/>
      <p:bold r:id="rId10"/>
      <p:boldItalic r:id="rId11"/>
    </p:embeddedFont>
    <p:embeddedFont>
      <p:font typeface="Inter Medium" panose="020B0604020202020204" charset="0"/>
      <p:regular r:id="rId12"/>
      <p:bold r:id="rId13"/>
      <p:italic r:id="rId14"/>
      <p:boldItalic r:id="rId15"/>
    </p:embeddedFont>
    <p:embeddedFont>
      <p:font typeface="Inter SemiBold" panose="020B060402020202020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15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1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23" Type="http://schemas.openxmlformats.org/officeDocument/2006/relationships/tableStyles" Target="tableStyles.xml"/><Relationship Id="rId10" Type="http://schemas.openxmlformats.org/officeDocument/2006/relationships/font" Target="fonts/font5.fntdata"/><Relationship Id="rId19"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eead4821eb_22_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3eead4821eb_2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ead4821eb_2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ead4821eb_2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eead4821eb_2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eead4821eb_2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g3eead4821eb_18_0)">
  <p:cSld name="Generated (g3eead4821eb_18_0)">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1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1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2"/>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381000" y="381000"/>
            <a:ext cx="8382000" cy="4667250"/>
            <a:chOff x="381000" y="381000"/>
            <a:chExt cx="8382000" cy="4667250"/>
          </a:xfrm>
        </p:grpSpPr>
        <p:grpSp>
          <p:nvGrpSpPr>
            <p:cNvPr id="56" name="Google Shape;56;p14"/>
            <p:cNvGrpSpPr/>
            <p:nvPr/>
          </p:nvGrpSpPr>
          <p:grpSpPr>
            <a:xfrm>
              <a:off x="381000" y="381000"/>
              <a:ext cx="304800" cy="304800"/>
              <a:chOff x="0" y="0"/>
              <a:chExt cx="304800" cy="304800"/>
            </a:xfrm>
          </p:grpSpPr>
          <p:sp>
            <p:nvSpPr>
              <p:cNvPr id="57" name="Google Shape;57;p14"/>
              <p:cNvSpPr/>
              <p:nvPr/>
            </p:nvSpPr>
            <p:spPr>
              <a:xfrm>
                <a:off x="0" y="0"/>
                <a:ext cx="304800" cy="304800"/>
              </a:xfrm>
              <a:prstGeom prst="roundRect">
                <a:avLst>
                  <a:gd name="adj" fmla="val 12500"/>
                </a:avLst>
              </a:prstGeom>
              <a:solidFill>
                <a:srgbClr val="000000">
                  <a:alpha val="0"/>
                </a:srgbClr>
              </a:solid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 name="Google Shape;58;p14"/>
              <p:cNvSpPr/>
              <p:nvPr/>
            </p:nvSpPr>
            <p:spPr>
              <a:xfrm>
                <a:off x="57150" y="57150"/>
                <a:ext cx="76200" cy="76200"/>
              </a:xfrm>
              <a:prstGeom prst="roundRect">
                <a:avLst>
                  <a:gd name="adj" fmla="val 125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59;p14"/>
              <p:cNvSpPr/>
              <p:nvPr/>
            </p:nvSpPr>
            <p:spPr>
              <a:xfrm>
                <a:off x="171450" y="57150"/>
                <a:ext cx="76200" cy="76200"/>
              </a:xfrm>
              <a:prstGeom prst="roundRect">
                <a:avLst>
                  <a:gd name="adj" fmla="val 125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 name="Google Shape;60;p14"/>
              <p:cNvSpPr/>
              <p:nvPr/>
            </p:nvSpPr>
            <p:spPr>
              <a:xfrm>
                <a:off x="57150" y="171450"/>
                <a:ext cx="76200" cy="76200"/>
              </a:xfrm>
              <a:prstGeom prst="roundRect">
                <a:avLst>
                  <a:gd name="adj" fmla="val 125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 name="Google Shape;61;p14"/>
              <p:cNvSpPr/>
              <p:nvPr/>
            </p:nvSpPr>
            <p:spPr>
              <a:xfrm>
                <a:off x="171450" y="171450"/>
                <a:ext cx="38100" cy="38100"/>
              </a:xfrm>
              <a:prstGeom prst="roundRect">
                <a:avLst>
                  <a:gd name="adj" fmla="val 125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 name="Google Shape;62;p14"/>
              <p:cNvSpPr/>
              <p:nvPr/>
            </p:nvSpPr>
            <p:spPr>
              <a:xfrm>
                <a:off x="209550" y="209550"/>
                <a:ext cx="38100" cy="38100"/>
              </a:xfrm>
              <a:prstGeom prst="roundRect">
                <a:avLst>
                  <a:gd name="adj" fmla="val 12500"/>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3" name="Google Shape;63;p14"/>
            <p:cNvSpPr txBox="1"/>
            <p:nvPr/>
          </p:nvSpPr>
          <p:spPr>
            <a:xfrm>
              <a:off x="381000" y="1143000"/>
              <a:ext cx="80010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3150" b="0">
                  <a:solidFill>
                    <a:srgbClr val="FFFFFF"/>
                  </a:solidFill>
                  <a:latin typeface="Inter ExtraBold"/>
                  <a:ea typeface="Inter ExtraBold"/>
                  <a:cs typeface="Inter ExtraBold"/>
                  <a:sym typeface="Inter ExtraBold"/>
                </a:rPr>
                <a:t>Digital Restaurant Menus: A Modern Solution for the Hospitality Industry</a:t>
              </a:r>
              <a:endParaRPr sz="3150" b="0">
                <a:solidFill>
                  <a:srgbClr val="FFFFFF"/>
                </a:solidFill>
                <a:latin typeface="Inter ExtraBold"/>
                <a:ea typeface="Inter ExtraBold"/>
                <a:cs typeface="Inter ExtraBold"/>
                <a:sym typeface="Inter ExtraBold"/>
              </a:endParaRPr>
            </a:p>
          </p:txBody>
        </p:sp>
        <p:sp>
          <p:nvSpPr>
            <p:cNvPr id="64" name="Google Shape;64;p14"/>
            <p:cNvSpPr txBox="1"/>
            <p:nvPr/>
          </p:nvSpPr>
          <p:spPr>
            <a:xfrm>
              <a:off x="381000" y="2238375"/>
              <a:ext cx="7143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500" b="0">
                  <a:solidFill>
                    <a:srgbClr val="CBD5E1"/>
                  </a:solidFill>
                  <a:latin typeface="Inter Medium"/>
                  <a:ea typeface="Inter Medium"/>
                  <a:cs typeface="Inter Medium"/>
                  <a:sym typeface="Inter Medium"/>
                </a:rPr>
                <a:t>A comprehensive project proposal for modernizing local dining experiences through accessible, QR-based digital infrastructure.</a:t>
              </a:r>
              <a:endParaRPr sz="1500" b="0">
                <a:solidFill>
                  <a:srgbClr val="CBD5E1"/>
                </a:solidFill>
                <a:latin typeface="Inter Medium"/>
                <a:ea typeface="Inter Medium"/>
                <a:cs typeface="Inter Medium"/>
                <a:sym typeface="Inter Medium"/>
              </a:endParaRPr>
            </a:p>
          </p:txBody>
        </p:sp>
        <p:grpSp>
          <p:nvGrpSpPr>
            <p:cNvPr id="65" name="Google Shape;65;p14"/>
            <p:cNvGrpSpPr/>
            <p:nvPr/>
          </p:nvGrpSpPr>
          <p:grpSpPr>
            <a:xfrm>
              <a:off x="381000" y="3000375"/>
              <a:ext cx="5867400" cy="523800"/>
              <a:chOff x="0" y="0"/>
              <a:chExt cx="5867400" cy="523800"/>
            </a:xfrm>
          </p:grpSpPr>
          <p:sp>
            <p:nvSpPr>
              <p:cNvPr id="66" name="Google Shape;66;p14"/>
              <p:cNvSpPr/>
              <p:nvPr/>
            </p:nvSpPr>
            <p:spPr>
              <a:xfrm>
                <a:off x="0" y="0"/>
                <a:ext cx="38100" cy="3810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 name="Google Shape;67;p14"/>
              <p:cNvSpPr txBox="1"/>
              <p:nvPr/>
            </p:nvSpPr>
            <p:spPr>
              <a:xfrm>
                <a:off x="152400" y="0"/>
                <a:ext cx="57150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00" b="0">
                    <a:solidFill>
                      <a:srgbClr val="94A3B8"/>
                    </a:solidFill>
                    <a:latin typeface="Inter"/>
                    <a:ea typeface="Inter"/>
                    <a:cs typeface="Inter"/>
                    <a:sym typeface="Inter"/>
                  </a:rPr>
                  <a:t>Presented By</a:t>
                </a:r>
                <a:endParaRPr sz="1050" b="0">
                  <a:solidFill>
                    <a:srgbClr val="CBD5E1"/>
                  </a:solidFill>
                  <a:latin typeface="Inter"/>
                  <a:ea typeface="Inter"/>
                  <a:cs typeface="Inter"/>
                  <a:sym typeface="Inter"/>
                </a:endParaRPr>
              </a:p>
              <a:p>
                <a:pPr marL="0" lvl="0" indent="0" algn="l" rtl="0">
                  <a:spcBef>
                    <a:spcPts val="0"/>
                  </a:spcBef>
                  <a:spcAft>
                    <a:spcPts val="0"/>
                  </a:spcAft>
                  <a:buNone/>
                </a:pPr>
                <a:r>
                  <a:rPr lang="en" sz="1050" b="0">
                    <a:solidFill>
                      <a:srgbClr val="FFFFFF"/>
                    </a:solidFill>
                    <a:latin typeface="Inter SemiBold"/>
                    <a:ea typeface="Inter SemiBold"/>
                    <a:cs typeface="Inter SemiBold"/>
                    <a:sym typeface="Inter SemiBold"/>
                  </a:rPr>
                  <a:t>Shriniwas Somvanshi, Shaurya Joshi, Bhagyalaxmi Lohar, and Sara Sayyed</a:t>
                </a:r>
                <a:endParaRPr sz="1050" b="0">
                  <a:solidFill>
                    <a:srgbClr val="FFFFFF"/>
                  </a:solidFill>
                  <a:latin typeface="Inter SemiBold"/>
                  <a:ea typeface="Inter SemiBold"/>
                  <a:cs typeface="Inter SemiBold"/>
                  <a:sym typeface="Inter SemiBold"/>
                </a:endParaRPr>
              </a:p>
            </p:txBody>
          </p:sp>
        </p:grpSp>
        <p:grpSp>
          <p:nvGrpSpPr>
            <p:cNvPr id="68" name="Google Shape;68;p14"/>
            <p:cNvGrpSpPr/>
            <p:nvPr/>
          </p:nvGrpSpPr>
          <p:grpSpPr>
            <a:xfrm>
              <a:off x="381000" y="3619500"/>
              <a:ext cx="8382000" cy="1047900"/>
              <a:chOff x="0" y="0"/>
              <a:chExt cx="8382000" cy="1047900"/>
            </a:xfrm>
          </p:grpSpPr>
          <p:sp>
            <p:nvSpPr>
              <p:cNvPr id="69" name="Google Shape;69;p14"/>
              <p:cNvSpPr/>
              <p:nvPr/>
            </p:nvSpPr>
            <p:spPr>
              <a:xfrm>
                <a:off x="0" y="0"/>
                <a:ext cx="8382000" cy="1047900"/>
              </a:xfrm>
              <a:prstGeom prst="roundRect">
                <a:avLst>
                  <a:gd name="adj" fmla="val 7272"/>
                </a:avLst>
              </a:prstGeom>
              <a:solidFill>
                <a:srgbClr val="1E293B"/>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 name="Google Shape;70;p14"/>
              <p:cNvSpPr txBox="1"/>
              <p:nvPr/>
            </p:nvSpPr>
            <p:spPr>
              <a:xfrm>
                <a:off x="228600" y="190500"/>
                <a:ext cx="79248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833" b="1">
                    <a:solidFill>
                      <a:srgbClr val="2563EB"/>
                    </a:solidFill>
                    <a:latin typeface="Inter"/>
                    <a:ea typeface="Inter"/>
                    <a:cs typeface="Inter"/>
                    <a:sym typeface="Inter"/>
                  </a:rPr>
                  <a:t>Project Abstract</a:t>
                </a:r>
                <a:endParaRPr sz="971" b="0">
                  <a:solidFill>
                    <a:srgbClr val="CBD5E1"/>
                  </a:solidFill>
                  <a:latin typeface="Inter"/>
                  <a:ea typeface="Inter"/>
                  <a:cs typeface="Inter"/>
                  <a:sym typeface="Inter"/>
                </a:endParaRPr>
              </a:p>
              <a:p>
                <a:pPr marL="0" lvl="0" indent="0" algn="l" rtl="0">
                  <a:spcBef>
                    <a:spcPts val="0"/>
                  </a:spcBef>
                  <a:spcAft>
                    <a:spcPts val="0"/>
                  </a:spcAft>
                  <a:buNone/>
                </a:pPr>
                <a:r>
                  <a:rPr lang="en" sz="971" b="0">
                    <a:solidFill>
                      <a:srgbClr val="CBD5E1"/>
                    </a:solidFill>
                    <a:latin typeface="Inter"/>
                    <a:ea typeface="Inter"/>
                    <a:cs typeface="Inter"/>
                    <a:sym typeface="Inter"/>
                  </a:rPr>
                  <a:t>This presentation outlines a strategic initiative to replace outdated physical menus with dynamic, cost-effective digital alternatives. By leveraging QR code technology, we aim to improve operational efficiency for local restaurants, reduce recurring printing costs, and enhance the overall dining experience for patrons through real-time updates and interactive interfaces.</a:t>
                </a:r>
                <a:endParaRPr sz="971" b="0">
                  <a:solidFill>
                    <a:srgbClr val="CBD5E1"/>
                  </a:solidFill>
                  <a:latin typeface="Inter"/>
                  <a:ea typeface="Inter"/>
                  <a:cs typeface="Inter"/>
                  <a:sym typeface="Inter"/>
                </a:endParaRPr>
              </a:p>
            </p:txBody>
          </p:sp>
        </p:grpSp>
        <p:grpSp>
          <p:nvGrpSpPr>
            <p:cNvPr id="71" name="Google Shape;71;p14"/>
            <p:cNvGrpSpPr/>
            <p:nvPr/>
          </p:nvGrpSpPr>
          <p:grpSpPr>
            <a:xfrm>
              <a:off x="381000" y="4762500"/>
              <a:ext cx="8382000" cy="285750"/>
              <a:chOff x="381000" y="4762500"/>
              <a:chExt cx="8382000" cy="285750"/>
            </a:xfrm>
          </p:grpSpPr>
          <p:cxnSp>
            <p:nvCxnSpPr>
              <p:cNvPr id="72" name="Google Shape;72;p14"/>
              <p:cNvCxnSpPr/>
              <p:nvPr/>
            </p:nvCxnSpPr>
            <p:spPr>
              <a:xfrm>
                <a:off x="381000" y="4762500"/>
                <a:ext cx="8382000" cy="0"/>
              </a:xfrm>
              <a:prstGeom prst="straightConnector1">
                <a:avLst/>
              </a:prstGeom>
              <a:solidFill>
                <a:srgbClr val="FFFFFF"/>
              </a:solidFill>
              <a:ln w="9525" cap="flat" cmpd="sng">
                <a:solidFill>
                  <a:srgbClr val="334155"/>
                </a:solidFill>
                <a:prstDash val="solid"/>
                <a:round/>
                <a:headEnd type="none" w="sm" len="sm"/>
                <a:tailEnd type="none" w="sm" len="sm"/>
              </a:ln>
            </p:spPr>
          </p:cxnSp>
          <p:sp>
            <p:nvSpPr>
              <p:cNvPr id="73" name="Google Shape;73;p14"/>
              <p:cNvSpPr txBox="1"/>
              <p:nvPr/>
            </p:nvSpPr>
            <p:spPr>
              <a:xfrm>
                <a:off x="381000" y="4857750"/>
                <a:ext cx="3810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64748B"/>
                    </a:solidFill>
                    <a:latin typeface="Inter Medium"/>
                    <a:ea typeface="Inter Medium"/>
                    <a:cs typeface="Inter Medium"/>
                    <a:sym typeface="Inter Medium"/>
                  </a:rPr>
                  <a:t>Digital Restaurant Menus Project</a:t>
                </a:r>
                <a:endParaRPr sz="750" b="0">
                  <a:solidFill>
                    <a:srgbClr val="64748B"/>
                  </a:solidFill>
                  <a:latin typeface="Inter Medium"/>
                  <a:ea typeface="Inter Medium"/>
                  <a:cs typeface="Inter Medium"/>
                  <a:sym typeface="Inter Medium"/>
                </a:endParaRPr>
              </a:p>
            </p:txBody>
          </p:sp>
          <p:sp>
            <p:nvSpPr>
              <p:cNvPr id="74" name="Google Shape;74;p14"/>
              <p:cNvSpPr txBox="1"/>
              <p:nvPr/>
            </p:nvSpPr>
            <p:spPr>
              <a:xfrm>
                <a:off x="4953000" y="4857750"/>
                <a:ext cx="38100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750" b="0">
                    <a:solidFill>
                      <a:srgbClr val="64748B"/>
                    </a:solidFill>
                    <a:latin typeface="Inter Medium"/>
                    <a:ea typeface="Inter Medium"/>
                    <a:cs typeface="Inter Medium"/>
                    <a:sym typeface="Inter Medium"/>
                  </a:rPr>
                  <a:t>2026-06-10</a:t>
                </a:r>
                <a:endParaRPr sz="750" b="0">
                  <a:solidFill>
                    <a:srgbClr val="64748B"/>
                  </a:solidFill>
                  <a:latin typeface="Inter Medium"/>
                  <a:ea typeface="Inter Medium"/>
                  <a:cs typeface="Inter Medium"/>
                  <a:sym typeface="Inter Medium"/>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8"/>
        <p:cNvGrpSpPr/>
        <p:nvPr/>
      </p:nvGrpSpPr>
      <p:grpSpPr>
        <a:xfrm>
          <a:off x="0" y="0"/>
          <a:ext cx="0" cy="0"/>
          <a:chOff x="0" y="0"/>
          <a:chExt cx="0" cy="0"/>
        </a:xfrm>
      </p:grpSpPr>
      <p:pic>
        <p:nvPicPr>
          <p:cNvPr id="79" name="Google Shape;79;p15"/>
          <p:cNvPicPr preferRelativeResize="0"/>
          <p:nvPr/>
        </p:nvPicPr>
        <p:blipFill rotWithShape="1">
          <a:blip r:embed="rId3">
            <a:alphaModFix/>
            <a:extLst>
              <a:ext uri="{BEBA8EAE-BF5A-486C-A8C5-ECC9F3942E4B}">
                <a14:imgProps xmlns:a14="http://schemas.microsoft.com/office/drawing/2010/main">
                  <a14:imgLayer r:embed="rId4">
                    <a14:imgEffect>
                      <a14:sharpenSoften amount="1000"/>
                    </a14:imgEffect>
                    <a14:imgEffect>
                      <a14:brightnessContrast bright="-16000"/>
                    </a14:imgEffect>
                  </a14:imgLayer>
                </a14:imgProps>
              </a:ext>
            </a:extLst>
          </a:blip>
          <a:srcRect/>
          <a:stretch/>
        </p:blipFill>
        <p:spPr>
          <a:xfrm>
            <a:off x="-14868" y="22302"/>
            <a:ext cx="9144000" cy="5143500"/>
          </a:xfrm>
          <a:prstGeom prst="rect">
            <a:avLst/>
          </a:prstGeom>
          <a:noFill/>
          <a:ln>
            <a:noFill/>
          </a:ln>
        </p:spPr>
      </p:pic>
      <p:grpSp>
        <p:nvGrpSpPr>
          <p:cNvPr id="80" name="Google Shape;80;p15"/>
          <p:cNvGrpSpPr/>
          <p:nvPr/>
        </p:nvGrpSpPr>
        <p:grpSpPr>
          <a:xfrm>
            <a:off x="381000" y="381000"/>
            <a:ext cx="304800" cy="304800"/>
            <a:chOff x="0" y="0"/>
            <a:chExt cx="304800" cy="304800"/>
          </a:xfrm>
        </p:grpSpPr>
        <p:sp>
          <p:nvSpPr>
            <p:cNvPr id="81" name="Google Shape;81;p15"/>
            <p:cNvSpPr/>
            <p:nvPr/>
          </p:nvSpPr>
          <p:spPr>
            <a:xfrm>
              <a:off x="0" y="0"/>
              <a:ext cx="304800" cy="304800"/>
            </a:xfrm>
            <a:prstGeom prst="roundRect">
              <a:avLst>
                <a:gd name="adj" fmla="val 12500"/>
              </a:avLst>
            </a:prstGeom>
            <a:solidFill>
              <a:srgbClr val="000000">
                <a:alpha val="0"/>
              </a:srgbClr>
            </a:solidFill>
            <a:ln w="19050" cap="flat" cmpd="sng">
              <a:solidFill>
                <a:srgbClr val="0F172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15"/>
            <p:cNvSpPr/>
            <p:nvPr/>
          </p:nvSpPr>
          <p:spPr>
            <a:xfrm>
              <a:off x="57150" y="57150"/>
              <a:ext cx="76200" cy="762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 name="Google Shape;83;p15"/>
            <p:cNvSpPr/>
            <p:nvPr/>
          </p:nvSpPr>
          <p:spPr>
            <a:xfrm>
              <a:off x="171450" y="57150"/>
              <a:ext cx="76200" cy="762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4" name="Google Shape;84;p15"/>
            <p:cNvSpPr/>
            <p:nvPr/>
          </p:nvSpPr>
          <p:spPr>
            <a:xfrm>
              <a:off x="57150" y="171450"/>
              <a:ext cx="76200" cy="762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 name="Google Shape;85;p15"/>
            <p:cNvSpPr/>
            <p:nvPr/>
          </p:nvSpPr>
          <p:spPr>
            <a:xfrm>
              <a:off x="171450" y="171450"/>
              <a:ext cx="38100" cy="381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 name="Google Shape;86;p15"/>
            <p:cNvSpPr/>
            <p:nvPr/>
          </p:nvSpPr>
          <p:spPr>
            <a:xfrm>
              <a:off x="209550" y="209550"/>
              <a:ext cx="38100" cy="381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87" name="Google Shape;87;p15"/>
          <p:cNvSpPr txBox="1"/>
          <p:nvPr/>
        </p:nvSpPr>
        <p:spPr>
          <a:xfrm>
            <a:off x="857250" y="381000"/>
            <a:ext cx="76200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900"/>
              </a:spcAft>
              <a:buNone/>
            </a:pPr>
            <a:r>
              <a:rPr lang="en" sz="2100" b="1">
                <a:solidFill>
                  <a:srgbClr val="0F172A"/>
                </a:solidFill>
                <a:latin typeface="Inter"/>
                <a:ea typeface="Inter"/>
                <a:cs typeface="Inter"/>
                <a:sym typeface="Inter"/>
              </a:rPr>
              <a:t>Problem Statement: Traditional Physical Menus Create Operational and Financial Bottlenecks</a:t>
            </a:r>
            <a:endParaRPr sz="2100" b="1">
              <a:solidFill>
                <a:srgbClr val="0F172A"/>
              </a:solidFill>
              <a:latin typeface="Inter"/>
              <a:ea typeface="Inter"/>
              <a:cs typeface="Inter"/>
              <a:sym typeface="Inter"/>
            </a:endParaRPr>
          </a:p>
        </p:txBody>
      </p:sp>
      <p:grpSp>
        <p:nvGrpSpPr>
          <p:cNvPr id="88" name="Google Shape;88;p15"/>
          <p:cNvGrpSpPr/>
          <p:nvPr/>
        </p:nvGrpSpPr>
        <p:grpSpPr>
          <a:xfrm>
            <a:off x="381000" y="1524000"/>
            <a:ext cx="2667000" cy="2857500"/>
            <a:chOff x="0" y="0"/>
            <a:chExt cx="2667000" cy="2857500"/>
          </a:xfrm>
        </p:grpSpPr>
        <p:sp>
          <p:nvSpPr>
            <p:cNvPr id="89" name="Google Shape;89;p15"/>
            <p:cNvSpPr/>
            <p:nvPr/>
          </p:nvSpPr>
          <p:spPr>
            <a:xfrm>
              <a:off x="0" y="0"/>
              <a:ext cx="2667000" cy="2857500"/>
            </a:xfrm>
            <a:prstGeom prst="roundRect">
              <a:avLst>
                <a:gd name="adj" fmla="val 2857"/>
              </a:avLst>
            </a:prstGeom>
            <a:solidFill>
              <a:srgbClr val="FFFFFF"/>
            </a:solidFill>
            <a:ln w="19050" cap="flat" cmpd="sng">
              <a:solidFill>
                <a:srgbClr val="FEE2E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 name="Google Shape;90;p15"/>
            <p:cNvSpPr/>
            <p:nvPr/>
          </p:nvSpPr>
          <p:spPr>
            <a:xfrm>
              <a:off x="0" y="0"/>
              <a:ext cx="2667000" cy="38100"/>
            </a:xfrm>
            <a:prstGeom prst="roundRect">
              <a:avLst>
                <a:gd name="adj" fmla="val 50000"/>
              </a:avLst>
            </a:prstGeom>
            <a:solidFill>
              <a:srgbClr val="DC262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91" name="Google Shape;91;p15"/>
            <p:cNvGrpSpPr/>
            <p:nvPr/>
          </p:nvGrpSpPr>
          <p:grpSpPr>
            <a:xfrm>
              <a:off x="228600" y="228600"/>
              <a:ext cx="304800" cy="304800"/>
              <a:chOff x="0" y="0"/>
              <a:chExt cx="304800" cy="304800"/>
            </a:xfrm>
          </p:grpSpPr>
          <p:sp>
            <p:nvSpPr>
              <p:cNvPr id="92" name="Google Shape;92;p15"/>
              <p:cNvSpPr/>
              <p:nvPr/>
            </p:nvSpPr>
            <p:spPr>
              <a:xfrm>
                <a:off x="0" y="0"/>
                <a:ext cx="304800" cy="304800"/>
              </a:xfrm>
              <a:prstGeom prst="ellipse">
                <a:avLst/>
              </a:prstGeom>
              <a:solidFill>
                <a:srgbClr val="FEE2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3" name="Google Shape;93;p15"/>
              <p:cNvSpPr/>
              <p:nvPr/>
            </p:nvSpPr>
            <p:spPr>
              <a:xfrm>
                <a:off x="152400" y="76200"/>
                <a:ext cx="0" cy="114300"/>
              </a:xfrm>
              <a:custGeom>
                <a:avLst/>
                <a:gdLst/>
                <a:ahLst/>
                <a:cxnLst/>
                <a:rect l="l" t="t" r="r" b="b"/>
                <a:pathLst>
                  <a:path w="120000" h="120000" fill="none" extrusionOk="0">
                    <a:moveTo>
                      <a:pt x="0" y="0"/>
                    </a:moveTo>
                    <a:lnTo>
                      <a:pt x="0" y="80000"/>
                    </a:lnTo>
                    <a:moveTo>
                      <a:pt x="0" y="120000"/>
                    </a:moveTo>
                    <a:lnTo>
                      <a:pt x="120000" y="120000"/>
                    </a:lnTo>
                  </a:path>
                </a:pathLst>
              </a:custGeom>
              <a:solidFill>
                <a:srgbClr val="FFFFFF"/>
              </a:solidFill>
              <a:ln w="19050" cap="rnd" cmpd="sng">
                <a:solidFill>
                  <a:srgbClr val="DC262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94" name="Google Shape;94;p15"/>
            <p:cNvSpPr txBox="1"/>
            <p:nvPr/>
          </p:nvSpPr>
          <p:spPr>
            <a:xfrm>
              <a:off x="228600" y="685800"/>
              <a:ext cx="2209800" cy="20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1">
                  <a:solidFill>
                    <a:srgbClr val="0F172A"/>
                  </a:solidFill>
                  <a:latin typeface="Inter"/>
                  <a:ea typeface="Inter"/>
                  <a:cs typeface="Inter"/>
                  <a:sym typeface="Inter"/>
                </a:rPr>
                <a:t>High Recurring Costs</a:t>
              </a:r>
              <a:endParaRPr sz="1350" b="1">
                <a:solidFill>
                  <a:srgbClr val="0F172A"/>
                </a:solidFill>
                <a:latin typeface="Inter"/>
                <a:ea typeface="Inter"/>
                <a:cs typeface="Inter"/>
                <a:sym typeface="Inter"/>
              </a:endParaRPr>
            </a:p>
            <a:p>
              <a:pPr marL="0" lvl="0" indent="0" algn="l" rtl="0">
                <a:spcBef>
                  <a:spcPts val="900"/>
                </a:spcBef>
                <a:spcAft>
                  <a:spcPts val="900"/>
                </a:spcAft>
                <a:buNone/>
              </a:pPr>
              <a:r>
                <a:rPr lang="en" sz="1050" b="0">
                  <a:solidFill>
                    <a:srgbClr val="475569"/>
                  </a:solidFill>
                  <a:latin typeface="Inter"/>
                  <a:ea typeface="Inter"/>
                  <a:cs typeface="Inter"/>
                  <a:sym typeface="Inter"/>
                </a:rPr>
                <a:t>Printing, binding, and laminating physical menus incurs constant expenses. Even minor menu changes, such as seasonal updates or price adjustments due to inflation, require complete reprints, draining restaurant margins over time.</a:t>
              </a:r>
              <a:endParaRPr sz="1050" b="0">
                <a:solidFill>
                  <a:srgbClr val="475569"/>
                </a:solidFill>
                <a:latin typeface="Inter"/>
                <a:ea typeface="Inter"/>
                <a:cs typeface="Inter"/>
                <a:sym typeface="Inter"/>
              </a:endParaRPr>
            </a:p>
          </p:txBody>
        </p:sp>
      </p:grpSp>
      <p:grpSp>
        <p:nvGrpSpPr>
          <p:cNvPr id="95" name="Google Shape;95;p15"/>
          <p:cNvGrpSpPr/>
          <p:nvPr/>
        </p:nvGrpSpPr>
        <p:grpSpPr>
          <a:xfrm>
            <a:off x="3238500" y="1524000"/>
            <a:ext cx="2667000" cy="2857500"/>
            <a:chOff x="0" y="0"/>
            <a:chExt cx="2667000" cy="2857500"/>
          </a:xfrm>
        </p:grpSpPr>
        <p:sp>
          <p:nvSpPr>
            <p:cNvPr id="96" name="Google Shape;96;p15"/>
            <p:cNvSpPr/>
            <p:nvPr/>
          </p:nvSpPr>
          <p:spPr>
            <a:xfrm>
              <a:off x="0" y="0"/>
              <a:ext cx="2667000" cy="2857500"/>
            </a:xfrm>
            <a:prstGeom prst="roundRect">
              <a:avLst>
                <a:gd name="adj" fmla="val 2857"/>
              </a:avLst>
            </a:prstGeom>
            <a:solidFill>
              <a:srgbClr val="FFFFFF"/>
            </a:solidFill>
            <a:ln w="19050" cap="flat" cmpd="sng">
              <a:solidFill>
                <a:srgbClr val="FEE2E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p15"/>
            <p:cNvSpPr/>
            <p:nvPr/>
          </p:nvSpPr>
          <p:spPr>
            <a:xfrm>
              <a:off x="0" y="0"/>
              <a:ext cx="2667000" cy="38100"/>
            </a:xfrm>
            <a:prstGeom prst="roundRect">
              <a:avLst>
                <a:gd name="adj" fmla="val 50000"/>
              </a:avLst>
            </a:prstGeom>
            <a:solidFill>
              <a:srgbClr val="DC262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98" name="Google Shape;98;p15"/>
            <p:cNvGrpSpPr/>
            <p:nvPr/>
          </p:nvGrpSpPr>
          <p:grpSpPr>
            <a:xfrm>
              <a:off x="228600" y="228600"/>
              <a:ext cx="304800" cy="304800"/>
              <a:chOff x="0" y="0"/>
              <a:chExt cx="304800" cy="304800"/>
            </a:xfrm>
          </p:grpSpPr>
          <p:sp>
            <p:nvSpPr>
              <p:cNvPr id="99" name="Google Shape;99;p15"/>
              <p:cNvSpPr/>
              <p:nvPr/>
            </p:nvSpPr>
            <p:spPr>
              <a:xfrm>
                <a:off x="0" y="0"/>
                <a:ext cx="304800" cy="304800"/>
              </a:xfrm>
              <a:prstGeom prst="ellipse">
                <a:avLst/>
              </a:prstGeom>
              <a:solidFill>
                <a:srgbClr val="FEE2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 name="Google Shape;100;p15"/>
              <p:cNvSpPr/>
              <p:nvPr/>
            </p:nvSpPr>
            <p:spPr>
              <a:xfrm>
                <a:off x="152400" y="76200"/>
                <a:ext cx="0" cy="114300"/>
              </a:xfrm>
              <a:custGeom>
                <a:avLst/>
                <a:gdLst/>
                <a:ahLst/>
                <a:cxnLst/>
                <a:rect l="l" t="t" r="r" b="b"/>
                <a:pathLst>
                  <a:path w="120000" h="120000" fill="none" extrusionOk="0">
                    <a:moveTo>
                      <a:pt x="0" y="0"/>
                    </a:moveTo>
                    <a:lnTo>
                      <a:pt x="0" y="80000"/>
                    </a:lnTo>
                    <a:moveTo>
                      <a:pt x="0" y="120000"/>
                    </a:moveTo>
                    <a:lnTo>
                      <a:pt x="120000" y="120000"/>
                    </a:lnTo>
                  </a:path>
                </a:pathLst>
              </a:custGeom>
              <a:solidFill>
                <a:srgbClr val="FFFFFF"/>
              </a:solidFill>
              <a:ln w="19050" cap="rnd" cmpd="sng">
                <a:solidFill>
                  <a:srgbClr val="DC262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1" name="Google Shape;101;p15"/>
            <p:cNvSpPr txBox="1"/>
            <p:nvPr/>
          </p:nvSpPr>
          <p:spPr>
            <a:xfrm>
              <a:off x="228600" y="685800"/>
              <a:ext cx="2209800" cy="20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50" b="1">
                  <a:solidFill>
                    <a:srgbClr val="0F172A"/>
                  </a:solidFill>
                  <a:latin typeface="Inter"/>
                  <a:ea typeface="Inter"/>
                  <a:cs typeface="Inter"/>
                  <a:sym typeface="Inter"/>
                </a:rPr>
                <a:t>Time Inefficiency</a:t>
              </a:r>
              <a:endParaRPr sz="1350" b="1">
                <a:solidFill>
                  <a:srgbClr val="0F172A"/>
                </a:solidFill>
                <a:latin typeface="Inter"/>
                <a:ea typeface="Inter"/>
                <a:cs typeface="Inter"/>
                <a:sym typeface="Inter"/>
              </a:endParaRPr>
            </a:p>
            <a:p>
              <a:pPr marL="0" lvl="0" indent="0" algn="l" rtl="0">
                <a:spcBef>
                  <a:spcPts val="900"/>
                </a:spcBef>
                <a:spcAft>
                  <a:spcPts val="900"/>
                </a:spcAft>
                <a:buNone/>
              </a:pPr>
              <a:r>
                <a:rPr lang="en" sz="1050" b="0">
                  <a:solidFill>
                    <a:srgbClr val="475569"/>
                  </a:solidFill>
                  <a:latin typeface="Inter"/>
                  <a:ea typeface="Inter"/>
                  <a:cs typeface="Inter"/>
                  <a:sym typeface="Inter"/>
                </a:rPr>
                <a:t>The traditional update cycle is remarkably slow. From graphic design revisions to professional printing and physical delivery, updating a physical menu can take weeks. This delay prevents restaurants from adapting quickly to market changes or ingredient availability.</a:t>
              </a:r>
              <a:endParaRPr sz="1050" b="0">
                <a:solidFill>
                  <a:srgbClr val="475569"/>
                </a:solidFill>
                <a:latin typeface="Inter"/>
                <a:ea typeface="Inter"/>
                <a:cs typeface="Inter"/>
                <a:sym typeface="Inter"/>
              </a:endParaRPr>
            </a:p>
          </p:txBody>
        </p:sp>
      </p:grpSp>
      <p:grpSp>
        <p:nvGrpSpPr>
          <p:cNvPr id="102" name="Google Shape;102;p15"/>
          <p:cNvGrpSpPr/>
          <p:nvPr/>
        </p:nvGrpSpPr>
        <p:grpSpPr>
          <a:xfrm>
            <a:off x="6096000" y="1524000"/>
            <a:ext cx="2667000" cy="2857500"/>
            <a:chOff x="0" y="0"/>
            <a:chExt cx="2667000" cy="2857500"/>
          </a:xfrm>
        </p:grpSpPr>
        <p:sp>
          <p:nvSpPr>
            <p:cNvPr id="103" name="Google Shape;103;p15"/>
            <p:cNvSpPr/>
            <p:nvPr/>
          </p:nvSpPr>
          <p:spPr>
            <a:xfrm>
              <a:off x="0" y="0"/>
              <a:ext cx="2667000" cy="2857500"/>
            </a:xfrm>
            <a:prstGeom prst="roundRect">
              <a:avLst>
                <a:gd name="adj" fmla="val 2857"/>
              </a:avLst>
            </a:prstGeom>
            <a:solidFill>
              <a:srgbClr val="FFFFFF"/>
            </a:solidFill>
            <a:ln w="19050" cap="flat" cmpd="sng">
              <a:solidFill>
                <a:srgbClr val="FEE2E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4" name="Google Shape;104;p15"/>
            <p:cNvSpPr/>
            <p:nvPr/>
          </p:nvSpPr>
          <p:spPr>
            <a:xfrm>
              <a:off x="0" y="0"/>
              <a:ext cx="2667000" cy="38100"/>
            </a:xfrm>
            <a:prstGeom prst="roundRect">
              <a:avLst>
                <a:gd name="adj" fmla="val 50000"/>
              </a:avLst>
            </a:prstGeom>
            <a:solidFill>
              <a:srgbClr val="DC262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05" name="Google Shape;105;p15"/>
            <p:cNvGrpSpPr/>
            <p:nvPr/>
          </p:nvGrpSpPr>
          <p:grpSpPr>
            <a:xfrm>
              <a:off x="228600" y="228600"/>
              <a:ext cx="304800" cy="304800"/>
              <a:chOff x="0" y="0"/>
              <a:chExt cx="304800" cy="304800"/>
            </a:xfrm>
          </p:grpSpPr>
          <p:sp>
            <p:nvSpPr>
              <p:cNvPr id="106" name="Google Shape;106;p15"/>
              <p:cNvSpPr/>
              <p:nvPr/>
            </p:nvSpPr>
            <p:spPr>
              <a:xfrm>
                <a:off x="0" y="0"/>
                <a:ext cx="304800" cy="304800"/>
              </a:xfrm>
              <a:prstGeom prst="ellipse">
                <a:avLst/>
              </a:prstGeom>
              <a:solidFill>
                <a:srgbClr val="FEE2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7" name="Google Shape;107;p15"/>
              <p:cNvSpPr/>
              <p:nvPr/>
            </p:nvSpPr>
            <p:spPr>
              <a:xfrm>
                <a:off x="152400" y="76200"/>
                <a:ext cx="0" cy="114300"/>
              </a:xfrm>
              <a:custGeom>
                <a:avLst/>
                <a:gdLst/>
                <a:ahLst/>
                <a:cxnLst/>
                <a:rect l="l" t="t" r="r" b="b"/>
                <a:pathLst>
                  <a:path w="120000" h="120000" fill="none" extrusionOk="0">
                    <a:moveTo>
                      <a:pt x="0" y="0"/>
                    </a:moveTo>
                    <a:lnTo>
                      <a:pt x="0" y="80000"/>
                    </a:lnTo>
                    <a:moveTo>
                      <a:pt x="0" y="120000"/>
                    </a:moveTo>
                    <a:lnTo>
                      <a:pt x="120000" y="120000"/>
                    </a:lnTo>
                  </a:path>
                </a:pathLst>
              </a:custGeom>
              <a:solidFill>
                <a:srgbClr val="FFFFFF"/>
              </a:solidFill>
              <a:ln w="19050" cap="rnd" cmpd="sng">
                <a:solidFill>
                  <a:srgbClr val="DC262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8" name="Google Shape;108;p15"/>
            <p:cNvSpPr txBox="1"/>
            <p:nvPr/>
          </p:nvSpPr>
          <p:spPr>
            <a:xfrm>
              <a:off x="228600" y="685800"/>
              <a:ext cx="2209800" cy="2000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249" b="1">
                  <a:solidFill>
                    <a:srgbClr val="0F172A"/>
                  </a:solidFill>
                  <a:latin typeface="Inter"/>
                  <a:ea typeface="Inter"/>
                  <a:cs typeface="Inter"/>
                  <a:sym typeface="Inter"/>
                </a:rPr>
                <a:t>Complete Lack of Flexibility</a:t>
              </a:r>
              <a:endParaRPr sz="1249" b="1">
                <a:solidFill>
                  <a:srgbClr val="0F172A"/>
                </a:solidFill>
                <a:latin typeface="Inter"/>
                <a:ea typeface="Inter"/>
                <a:cs typeface="Inter"/>
                <a:sym typeface="Inter"/>
              </a:endParaRPr>
            </a:p>
            <a:p>
              <a:pPr marL="0" lvl="0" indent="0" algn="l" rtl="0">
                <a:spcBef>
                  <a:spcPts val="900"/>
                </a:spcBef>
                <a:spcAft>
                  <a:spcPts val="900"/>
                </a:spcAft>
                <a:buNone/>
              </a:pPr>
              <a:r>
                <a:rPr lang="en" sz="971" b="0">
                  <a:solidFill>
                    <a:srgbClr val="475569"/>
                  </a:solidFill>
                  <a:latin typeface="Inter"/>
                  <a:ea typeface="Inter"/>
                  <a:cs typeface="Inter"/>
                  <a:sym typeface="Inter"/>
                </a:rPr>
                <a:t>Physical menus are entirely static. When ingredients run out, staff must manually inform guests, often leading to customer disappointment. Furthermore, static menus cannot easily accommodate dynamic pricing, daily specials, or detailed allergen filtering without severely cluttering the visual design.</a:t>
              </a:r>
              <a:endParaRPr sz="971" b="0">
                <a:solidFill>
                  <a:srgbClr val="475569"/>
                </a:solidFill>
                <a:latin typeface="Inter"/>
                <a:ea typeface="Inter"/>
                <a:cs typeface="Inter"/>
                <a:sym typeface="Inter"/>
              </a:endParaRPr>
            </a:p>
          </p:txBody>
        </p:sp>
      </p:grpSp>
      <p:grpSp>
        <p:nvGrpSpPr>
          <p:cNvPr id="109" name="Google Shape;109;p15"/>
          <p:cNvGrpSpPr/>
          <p:nvPr/>
        </p:nvGrpSpPr>
        <p:grpSpPr>
          <a:xfrm>
            <a:off x="381000" y="4762500"/>
            <a:ext cx="8382000" cy="285750"/>
            <a:chOff x="381000" y="4762500"/>
            <a:chExt cx="8382000" cy="285750"/>
          </a:xfrm>
        </p:grpSpPr>
        <p:cxnSp>
          <p:nvCxnSpPr>
            <p:cNvPr id="110" name="Google Shape;110;p15"/>
            <p:cNvCxnSpPr/>
            <p:nvPr/>
          </p:nvCxnSpPr>
          <p:spPr>
            <a:xfrm>
              <a:off x="381000" y="4762500"/>
              <a:ext cx="83820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111" name="Google Shape;111;p15"/>
            <p:cNvSpPr txBox="1"/>
            <p:nvPr/>
          </p:nvSpPr>
          <p:spPr>
            <a:xfrm>
              <a:off x="381000" y="4857750"/>
              <a:ext cx="3810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dirty="0">
                  <a:solidFill>
                    <a:schemeClr val="bg1"/>
                  </a:solidFill>
                  <a:latin typeface="Inter Medium"/>
                  <a:ea typeface="Inter Medium"/>
                  <a:cs typeface="Inter Medium"/>
                  <a:sym typeface="Inter Medium"/>
                </a:rPr>
                <a:t>Digital Restaurant Menus Project</a:t>
              </a:r>
              <a:endParaRPr sz="750" b="0" dirty="0">
                <a:solidFill>
                  <a:schemeClr val="bg1"/>
                </a:solidFill>
                <a:latin typeface="Inter Medium"/>
                <a:ea typeface="Inter Medium"/>
                <a:cs typeface="Inter Medium"/>
                <a:sym typeface="Inter Medium"/>
              </a:endParaRPr>
            </a:p>
          </p:txBody>
        </p:sp>
        <p:sp>
          <p:nvSpPr>
            <p:cNvPr id="112" name="Google Shape;112;p15"/>
            <p:cNvSpPr txBox="1"/>
            <p:nvPr/>
          </p:nvSpPr>
          <p:spPr>
            <a:xfrm>
              <a:off x="4953000" y="4857750"/>
              <a:ext cx="38100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750" b="0" dirty="0">
                  <a:solidFill>
                    <a:srgbClr val="94A3B8"/>
                  </a:solidFill>
                  <a:latin typeface="Inter Medium"/>
                  <a:ea typeface="Inter Medium"/>
                  <a:cs typeface="Inter Medium"/>
                  <a:sym typeface="Inter Medium"/>
                </a:rPr>
                <a:t>2026-6-10</a:t>
              </a:r>
              <a:endParaRPr sz="750" b="0" dirty="0">
                <a:solidFill>
                  <a:srgbClr val="94A3B8"/>
                </a:solidFill>
                <a:latin typeface="Inter Medium"/>
                <a:ea typeface="Inter Medium"/>
                <a:cs typeface="Inter Medium"/>
                <a:sym typeface="Inter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6"/>
        <p:cNvGrpSpPr/>
        <p:nvPr/>
      </p:nvGrpSpPr>
      <p:grpSpPr>
        <a:xfrm>
          <a:off x="0" y="0"/>
          <a:ext cx="0" cy="0"/>
          <a:chOff x="0" y="0"/>
          <a:chExt cx="0" cy="0"/>
        </a:xfrm>
      </p:grpSpPr>
      <p:sp>
        <p:nvSpPr>
          <p:cNvPr id="119" name="Google Shape;119;p16"/>
          <p:cNvSpPr txBox="1"/>
          <p:nvPr/>
        </p:nvSpPr>
        <p:spPr>
          <a:xfrm>
            <a:off x="857250" y="381000"/>
            <a:ext cx="79059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900"/>
              </a:spcAft>
              <a:buNone/>
            </a:pPr>
            <a:r>
              <a:rPr lang="en" sz="2100" b="1">
                <a:solidFill>
                  <a:srgbClr val="0F172A"/>
                </a:solidFill>
                <a:latin typeface="Inter"/>
                <a:ea typeface="Inter"/>
                <a:cs typeface="Inter"/>
                <a:sym typeface="Inter"/>
              </a:rPr>
              <a:t>Proposed Solution: QR-Based Digital Menus Provide an Agile, Cost-Effective Dining Interface</a:t>
            </a:r>
            <a:endParaRPr sz="2100" b="1">
              <a:solidFill>
                <a:srgbClr val="0F172A"/>
              </a:solidFill>
              <a:latin typeface="Inter"/>
              <a:ea typeface="Inter"/>
              <a:cs typeface="Inter"/>
              <a:sym typeface="Inter"/>
            </a:endParaRPr>
          </a:p>
        </p:txBody>
      </p:sp>
      <p:grpSp>
        <p:nvGrpSpPr>
          <p:cNvPr id="120" name="Google Shape;120;p16"/>
          <p:cNvGrpSpPr/>
          <p:nvPr/>
        </p:nvGrpSpPr>
        <p:grpSpPr>
          <a:xfrm>
            <a:off x="381000" y="1524000"/>
            <a:ext cx="2667000" cy="2857500"/>
            <a:chOff x="0" y="0"/>
            <a:chExt cx="2667000" cy="2857500"/>
          </a:xfrm>
        </p:grpSpPr>
        <p:sp>
          <p:nvSpPr>
            <p:cNvPr id="121" name="Google Shape;121;p16"/>
            <p:cNvSpPr/>
            <p:nvPr/>
          </p:nvSpPr>
          <p:spPr>
            <a:xfrm>
              <a:off x="0" y="0"/>
              <a:ext cx="2667000" cy="2857500"/>
            </a:xfrm>
            <a:prstGeom prst="roundRect">
              <a:avLst>
                <a:gd name="adj" fmla="val 2857"/>
              </a:avLst>
            </a:prstGeom>
            <a:solidFill>
              <a:srgbClr val="FFFFFF"/>
            </a:solidFill>
            <a:ln w="19050"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2" name="Google Shape;122;p16"/>
            <p:cNvSpPr/>
            <p:nvPr/>
          </p:nvSpPr>
          <p:spPr>
            <a:xfrm>
              <a:off x="0" y="0"/>
              <a:ext cx="2667000" cy="38100"/>
            </a:xfrm>
            <a:prstGeom prst="roundRect">
              <a:avLst>
                <a:gd name="adj" fmla="val 50000"/>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23" name="Google Shape;123;p16"/>
            <p:cNvGrpSpPr/>
            <p:nvPr/>
          </p:nvGrpSpPr>
          <p:grpSpPr>
            <a:xfrm>
              <a:off x="228600" y="228600"/>
              <a:ext cx="304800" cy="304800"/>
              <a:chOff x="0" y="0"/>
              <a:chExt cx="304800" cy="304800"/>
            </a:xfrm>
          </p:grpSpPr>
          <p:sp>
            <p:nvSpPr>
              <p:cNvPr id="124" name="Google Shape;124;p16"/>
              <p:cNvSpPr/>
              <p:nvPr/>
            </p:nvSpPr>
            <p:spPr>
              <a:xfrm>
                <a:off x="0" y="0"/>
                <a:ext cx="304800" cy="304800"/>
              </a:xfrm>
              <a:prstGeom prst="ellipse">
                <a:avLst/>
              </a:prstGeom>
              <a:solidFill>
                <a:srgbClr val="DCFCE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5" name="Google Shape;125;p16"/>
              <p:cNvSpPr/>
              <p:nvPr/>
            </p:nvSpPr>
            <p:spPr>
              <a:xfrm>
                <a:off x="95250" y="114300"/>
                <a:ext cx="114300" cy="76200"/>
              </a:xfrm>
              <a:custGeom>
                <a:avLst/>
                <a:gdLst/>
                <a:ahLst/>
                <a:cxnLst/>
                <a:rect l="l" t="t" r="r" b="b"/>
                <a:pathLst>
                  <a:path w="120000" h="120000" extrusionOk="0">
                    <a:moveTo>
                      <a:pt x="0" y="60000"/>
                    </a:moveTo>
                    <a:lnTo>
                      <a:pt x="40000" y="120000"/>
                    </a:lnTo>
                    <a:lnTo>
                      <a:pt x="120000" y="0"/>
                    </a:lnTo>
                  </a:path>
                </a:pathLst>
              </a:custGeom>
              <a:solidFill>
                <a:srgbClr val="000000">
                  <a:alpha val="0"/>
                </a:srgbClr>
              </a:solidFill>
              <a:ln w="19050" cap="rnd"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6" name="Google Shape;126;p16"/>
            <p:cNvSpPr txBox="1"/>
            <p:nvPr/>
          </p:nvSpPr>
          <p:spPr>
            <a:xfrm>
              <a:off x="228600" y="685800"/>
              <a:ext cx="2209800" cy="2000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350" b="1">
                  <a:solidFill>
                    <a:srgbClr val="0F172A"/>
                  </a:solidFill>
                  <a:latin typeface="Inter"/>
                  <a:ea typeface="Inter"/>
                  <a:cs typeface="Inter"/>
                  <a:sym typeface="Inter"/>
                </a:rPr>
                <a:t>Universal Accessibility</a:t>
              </a:r>
              <a:endParaRPr sz="1350" b="1">
                <a:solidFill>
                  <a:srgbClr val="0F172A"/>
                </a:solidFill>
                <a:latin typeface="Inter"/>
                <a:ea typeface="Inter"/>
                <a:cs typeface="Inter"/>
                <a:sym typeface="Inter"/>
              </a:endParaRPr>
            </a:p>
            <a:p>
              <a:pPr marL="0" lvl="0" indent="0" algn="ctr" rtl="0">
                <a:spcBef>
                  <a:spcPts val="900"/>
                </a:spcBef>
                <a:spcAft>
                  <a:spcPts val="900"/>
                </a:spcAft>
                <a:buNone/>
              </a:pPr>
              <a:r>
                <a:rPr lang="en" sz="1050" b="0">
                  <a:solidFill>
                    <a:srgbClr val="475569"/>
                  </a:solidFill>
                  <a:latin typeface="Inter"/>
                  <a:ea typeface="Inter"/>
                  <a:cs typeface="Inter"/>
                  <a:sym typeface="Inter"/>
                </a:rPr>
                <a:t>Patrons simply scan a tabletop QR code using their native smartphone cameras</a:t>
              </a:r>
              <a:r>
                <a:rPr lang="en" sz="1050">
                  <a:solidFill>
                    <a:srgbClr val="475569"/>
                  </a:solidFill>
                  <a:latin typeface="Inter"/>
                  <a:ea typeface="Inter"/>
                  <a:cs typeface="Inter"/>
                  <a:sym typeface="Inter"/>
                </a:rPr>
                <a:t>; </a:t>
              </a:r>
              <a:r>
                <a:rPr lang="en" sz="1050" b="0">
                  <a:solidFill>
                    <a:srgbClr val="475569"/>
                  </a:solidFill>
                  <a:latin typeface="Inter"/>
                  <a:ea typeface="Inter"/>
                  <a:cs typeface="Inter"/>
                  <a:sym typeface="Inter"/>
                </a:rPr>
                <a:t>no specialized app downloads are required. This frictionless entry provides immediate, hygienic access to the full dining catalog.</a:t>
              </a:r>
              <a:endParaRPr sz="1050" b="0">
                <a:solidFill>
                  <a:srgbClr val="475569"/>
                </a:solidFill>
                <a:latin typeface="Inter"/>
                <a:ea typeface="Inter"/>
                <a:cs typeface="Inter"/>
                <a:sym typeface="Inter"/>
              </a:endParaRPr>
            </a:p>
          </p:txBody>
        </p:sp>
      </p:grpSp>
      <p:grpSp>
        <p:nvGrpSpPr>
          <p:cNvPr id="127" name="Google Shape;127;p16"/>
          <p:cNvGrpSpPr/>
          <p:nvPr/>
        </p:nvGrpSpPr>
        <p:grpSpPr>
          <a:xfrm>
            <a:off x="3238500" y="1524000"/>
            <a:ext cx="2667000" cy="2857500"/>
            <a:chOff x="0" y="0"/>
            <a:chExt cx="2667000" cy="2857500"/>
          </a:xfrm>
        </p:grpSpPr>
        <p:sp>
          <p:nvSpPr>
            <p:cNvPr id="128" name="Google Shape;128;p16"/>
            <p:cNvSpPr/>
            <p:nvPr/>
          </p:nvSpPr>
          <p:spPr>
            <a:xfrm>
              <a:off x="0" y="0"/>
              <a:ext cx="2667000" cy="2857500"/>
            </a:xfrm>
            <a:prstGeom prst="roundRect">
              <a:avLst>
                <a:gd name="adj" fmla="val 2857"/>
              </a:avLst>
            </a:prstGeom>
            <a:solidFill>
              <a:srgbClr val="FFFFFF"/>
            </a:solidFill>
            <a:ln w="19050"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9" name="Google Shape;129;p16"/>
            <p:cNvSpPr/>
            <p:nvPr/>
          </p:nvSpPr>
          <p:spPr>
            <a:xfrm>
              <a:off x="0" y="0"/>
              <a:ext cx="2667000" cy="38100"/>
            </a:xfrm>
            <a:prstGeom prst="roundRect">
              <a:avLst>
                <a:gd name="adj" fmla="val 50000"/>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30" name="Google Shape;130;p16"/>
            <p:cNvGrpSpPr/>
            <p:nvPr/>
          </p:nvGrpSpPr>
          <p:grpSpPr>
            <a:xfrm>
              <a:off x="228600" y="228600"/>
              <a:ext cx="304800" cy="304800"/>
              <a:chOff x="0" y="0"/>
              <a:chExt cx="304800" cy="304800"/>
            </a:xfrm>
          </p:grpSpPr>
          <p:sp>
            <p:nvSpPr>
              <p:cNvPr id="131" name="Google Shape;131;p16"/>
              <p:cNvSpPr/>
              <p:nvPr/>
            </p:nvSpPr>
            <p:spPr>
              <a:xfrm>
                <a:off x="0" y="0"/>
                <a:ext cx="304800" cy="304800"/>
              </a:xfrm>
              <a:prstGeom prst="ellipse">
                <a:avLst/>
              </a:prstGeom>
              <a:solidFill>
                <a:srgbClr val="DCFCE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2" name="Google Shape;132;p16"/>
              <p:cNvSpPr/>
              <p:nvPr/>
            </p:nvSpPr>
            <p:spPr>
              <a:xfrm>
                <a:off x="95250" y="114300"/>
                <a:ext cx="114300" cy="76200"/>
              </a:xfrm>
              <a:custGeom>
                <a:avLst/>
                <a:gdLst/>
                <a:ahLst/>
                <a:cxnLst/>
                <a:rect l="l" t="t" r="r" b="b"/>
                <a:pathLst>
                  <a:path w="120000" h="120000" extrusionOk="0">
                    <a:moveTo>
                      <a:pt x="0" y="60000"/>
                    </a:moveTo>
                    <a:lnTo>
                      <a:pt x="40000" y="120000"/>
                    </a:lnTo>
                    <a:lnTo>
                      <a:pt x="120000" y="0"/>
                    </a:lnTo>
                  </a:path>
                </a:pathLst>
              </a:custGeom>
              <a:solidFill>
                <a:srgbClr val="000000">
                  <a:alpha val="0"/>
                </a:srgbClr>
              </a:solidFill>
              <a:ln w="19050" cap="rnd"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33" name="Google Shape;133;p16"/>
            <p:cNvSpPr txBox="1"/>
            <p:nvPr/>
          </p:nvSpPr>
          <p:spPr>
            <a:xfrm>
              <a:off x="228600" y="685800"/>
              <a:ext cx="2209800" cy="2000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350" b="1">
                  <a:solidFill>
                    <a:srgbClr val="0F172A"/>
                  </a:solidFill>
                  <a:latin typeface="Inter"/>
                  <a:ea typeface="Inter"/>
                  <a:cs typeface="Inter"/>
                  <a:sym typeface="Inter"/>
                </a:rPr>
                <a:t>Instant, Cloud-Based Updates</a:t>
              </a:r>
              <a:endParaRPr sz="1350" b="1">
                <a:solidFill>
                  <a:srgbClr val="0F172A"/>
                </a:solidFill>
                <a:latin typeface="Inter"/>
                <a:ea typeface="Inter"/>
                <a:cs typeface="Inter"/>
                <a:sym typeface="Inter"/>
              </a:endParaRPr>
            </a:p>
            <a:p>
              <a:pPr marL="0" lvl="0" indent="0" algn="l" rtl="0">
                <a:spcBef>
                  <a:spcPts val="900"/>
                </a:spcBef>
                <a:spcAft>
                  <a:spcPts val="900"/>
                </a:spcAft>
                <a:buNone/>
              </a:pPr>
              <a:r>
                <a:rPr lang="en" sz="1050" b="0">
                  <a:solidFill>
                    <a:srgbClr val="475569"/>
                  </a:solidFill>
                  <a:latin typeface="Inter"/>
                  <a:ea typeface="Inter"/>
                  <a:cs typeface="Inter"/>
                  <a:sym typeface="Inter"/>
                </a:rPr>
                <a:t>Restaurant managers can update prices, add daily specials, or mark items as 'sold out' in real-time through a centralized backend dashboard. This completely eliminates printing delays and ensures customers only see currently available options.</a:t>
              </a:r>
              <a:endParaRPr sz="1050" b="0">
                <a:solidFill>
                  <a:srgbClr val="475569"/>
                </a:solidFill>
                <a:latin typeface="Inter"/>
                <a:ea typeface="Inter"/>
                <a:cs typeface="Inter"/>
                <a:sym typeface="Inter"/>
              </a:endParaRPr>
            </a:p>
          </p:txBody>
        </p:sp>
      </p:grpSp>
      <p:grpSp>
        <p:nvGrpSpPr>
          <p:cNvPr id="134" name="Google Shape;134;p16"/>
          <p:cNvGrpSpPr/>
          <p:nvPr/>
        </p:nvGrpSpPr>
        <p:grpSpPr>
          <a:xfrm>
            <a:off x="6096000" y="1524000"/>
            <a:ext cx="2667000" cy="2857500"/>
            <a:chOff x="0" y="0"/>
            <a:chExt cx="2667000" cy="2857500"/>
          </a:xfrm>
        </p:grpSpPr>
        <p:sp>
          <p:nvSpPr>
            <p:cNvPr id="135" name="Google Shape;135;p16"/>
            <p:cNvSpPr/>
            <p:nvPr/>
          </p:nvSpPr>
          <p:spPr>
            <a:xfrm>
              <a:off x="0" y="0"/>
              <a:ext cx="2667000" cy="2857500"/>
            </a:xfrm>
            <a:prstGeom prst="roundRect">
              <a:avLst>
                <a:gd name="adj" fmla="val 2857"/>
              </a:avLst>
            </a:prstGeom>
            <a:solidFill>
              <a:srgbClr val="FFFFFF"/>
            </a:solidFill>
            <a:ln w="19050" cap="flat" cmpd="sng">
              <a:solidFill>
                <a:srgbClr val="DCFCE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6" name="Google Shape;136;p16"/>
            <p:cNvSpPr/>
            <p:nvPr/>
          </p:nvSpPr>
          <p:spPr>
            <a:xfrm>
              <a:off x="0" y="0"/>
              <a:ext cx="2667000" cy="38100"/>
            </a:xfrm>
            <a:prstGeom prst="roundRect">
              <a:avLst>
                <a:gd name="adj" fmla="val 50000"/>
              </a:avLst>
            </a:prstGeom>
            <a:solidFill>
              <a:srgbClr val="16A34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37" name="Google Shape;137;p16"/>
            <p:cNvGrpSpPr/>
            <p:nvPr/>
          </p:nvGrpSpPr>
          <p:grpSpPr>
            <a:xfrm>
              <a:off x="228600" y="228600"/>
              <a:ext cx="304800" cy="304800"/>
              <a:chOff x="0" y="0"/>
              <a:chExt cx="304800" cy="304800"/>
            </a:xfrm>
          </p:grpSpPr>
          <p:sp>
            <p:nvSpPr>
              <p:cNvPr id="138" name="Google Shape;138;p16"/>
              <p:cNvSpPr/>
              <p:nvPr/>
            </p:nvSpPr>
            <p:spPr>
              <a:xfrm>
                <a:off x="0" y="0"/>
                <a:ext cx="304800" cy="304800"/>
              </a:xfrm>
              <a:prstGeom prst="ellipse">
                <a:avLst/>
              </a:prstGeom>
              <a:solidFill>
                <a:srgbClr val="DCFCE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9" name="Google Shape;139;p16"/>
              <p:cNvSpPr/>
              <p:nvPr/>
            </p:nvSpPr>
            <p:spPr>
              <a:xfrm>
                <a:off x="95250" y="114300"/>
                <a:ext cx="114300" cy="76200"/>
              </a:xfrm>
              <a:custGeom>
                <a:avLst/>
                <a:gdLst/>
                <a:ahLst/>
                <a:cxnLst/>
                <a:rect l="l" t="t" r="r" b="b"/>
                <a:pathLst>
                  <a:path w="120000" h="120000" extrusionOk="0">
                    <a:moveTo>
                      <a:pt x="0" y="60000"/>
                    </a:moveTo>
                    <a:lnTo>
                      <a:pt x="40000" y="120000"/>
                    </a:lnTo>
                    <a:lnTo>
                      <a:pt x="120000" y="0"/>
                    </a:lnTo>
                  </a:path>
                </a:pathLst>
              </a:custGeom>
              <a:solidFill>
                <a:srgbClr val="000000">
                  <a:alpha val="0"/>
                </a:srgbClr>
              </a:solidFill>
              <a:ln w="19050" cap="rnd" cmpd="sng">
                <a:solidFill>
                  <a:srgbClr val="16A34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40" name="Google Shape;140;p16"/>
            <p:cNvSpPr txBox="1"/>
            <p:nvPr/>
          </p:nvSpPr>
          <p:spPr>
            <a:xfrm>
              <a:off x="228600" y="685800"/>
              <a:ext cx="2209800" cy="20001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350" b="1">
                  <a:solidFill>
                    <a:srgbClr val="0F172A"/>
                  </a:solidFill>
                  <a:latin typeface="Inter"/>
                  <a:ea typeface="Inter"/>
                  <a:cs typeface="Inter"/>
                  <a:sym typeface="Inter"/>
                </a:rPr>
                <a:t>Seamless Technology Integration</a:t>
              </a:r>
              <a:endParaRPr sz="1350" b="1">
                <a:solidFill>
                  <a:srgbClr val="0F172A"/>
                </a:solidFill>
                <a:latin typeface="Inter"/>
                <a:ea typeface="Inter"/>
                <a:cs typeface="Inter"/>
                <a:sym typeface="Inter"/>
              </a:endParaRPr>
            </a:p>
            <a:p>
              <a:pPr marL="0" lvl="0" indent="0" algn="l" rtl="0">
                <a:spcBef>
                  <a:spcPts val="900"/>
                </a:spcBef>
                <a:spcAft>
                  <a:spcPts val="900"/>
                </a:spcAft>
                <a:buNone/>
              </a:pPr>
              <a:r>
                <a:rPr lang="en" sz="1050" b="0">
                  <a:solidFill>
                    <a:srgbClr val="475569"/>
                  </a:solidFill>
                  <a:latin typeface="Inter"/>
                  <a:ea typeface="Inter"/>
                  <a:cs typeface="Inter"/>
                  <a:sym typeface="Inter"/>
                </a:rPr>
                <a:t>Digital menus can integrate directly with existing inventory management and Point of Sale (POS) systems. This allows for automated stock tracking, rich media integration like high-quality food photography, and interactive features.</a:t>
              </a:r>
              <a:endParaRPr sz="1050" b="0">
                <a:solidFill>
                  <a:srgbClr val="475569"/>
                </a:solidFill>
                <a:latin typeface="Inter"/>
                <a:ea typeface="Inter"/>
                <a:cs typeface="Inter"/>
                <a:sym typeface="Inter"/>
              </a:endParaRPr>
            </a:p>
          </p:txBody>
        </p:sp>
      </p:grpSp>
      <p:grpSp>
        <p:nvGrpSpPr>
          <p:cNvPr id="141" name="Google Shape;141;p16"/>
          <p:cNvGrpSpPr/>
          <p:nvPr/>
        </p:nvGrpSpPr>
        <p:grpSpPr>
          <a:xfrm>
            <a:off x="381000" y="4762500"/>
            <a:ext cx="8382000" cy="285750"/>
            <a:chOff x="381000" y="4762500"/>
            <a:chExt cx="8382000" cy="285750"/>
          </a:xfrm>
        </p:grpSpPr>
        <p:cxnSp>
          <p:nvCxnSpPr>
            <p:cNvPr id="142" name="Google Shape;142;p16"/>
            <p:cNvCxnSpPr/>
            <p:nvPr/>
          </p:nvCxnSpPr>
          <p:spPr>
            <a:xfrm>
              <a:off x="381000" y="4762500"/>
              <a:ext cx="8382000" cy="0"/>
            </a:xfrm>
            <a:prstGeom prst="straightConnector1">
              <a:avLst/>
            </a:prstGeom>
            <a:solidFill>
              <a:srgbClr val="FFFFFF"/>
            </a:solidFill>
            <a:ln w="9525" cap="flat" cmpd="sng">
              <a:solidFill>
                <a:srgbClr val="E2E8F0"/>
              </a:solidFill>
              <a:prstDash val="solid"/>
              <a:round/>
              <a:headEnd type="none" w="sm" len="sm"/>
              <a:tailEnd type="none" w="sm" len="sm"/>
            </a:ln>
          </p:spPr>
        </p:cxnSp>
        <p:sp>
          <p:nvSpPr>
            <p:cNvPr id="143" name="Google Shape;143;p16"/>
            <p:cNvSpPr txBox="1"/>
            <p:nvPr/>
          </p:nvSpPr>
          <p:spPr>
            <a:xfrm>
              <a:off x="381000" y="4857750"/>
              <a:ext cx="3810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50" b="0">
                  <a:solidFill>
                    <a:srgbClr val="94A3B8"/>
                  </a:solidFill>
                  <a:latin typeface="Inter Medium"/>
                  <a:ea typeface="Inter Medium"/>
                  <a:cs typeface="Inter Medium"/>
                  <a:sym typeface="Inter Medium"/>
                </a:rPr>
                <a:t>Digital Restaurant Menus Project</a:t>
              </a:r>
              <a:endParaRPr sz="750" b="0">
                <a:solidFill>
                  <a:srgbClr val="94A3B8"/>
                </a:solidFill>
                <a:latin typeface="Inter Medium"/>
                <a:ea typeface="Inter Medium"/>
                <a:cs typeface="Inter Medium"/>
                <a:sym typeface="Inter Medium"/>
              </a:endParaRPr>
            </a:p>
          </p:txBody>
        </p:sp>
        <p:sp>
          <p:nvSpPr>
            <p:cNvPr id="144" name="Google Shape;144;p16"/>
            <p:cNvSpPr txBox="1"/>
            <p:nvPr/>
          </p:nvSpPr>
          <p:spPr>
            <a:xfrm>
              <a:off x="4953000" y="4857750"/>
              <a:ext cx="38100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750" b="0">
                  <a:solidFill>
                    <a:srgbClr val="94A3B8"/>
                  </a:solidFill>
                  <a:latin typeface="Inter Medium"/>
                  <a:ea typeface="Inter Medium"/>
                  <a:cs typeface="Inter Medium"/>
                  <a:sym typeface="Inter Medium"/>
                </a:rPr>
                <a:t>2026-06-10</a:t>
              </a:r>
              <a:endParaRPr sz="750" b="0">
                <a:solidFill>
                  <a:srgbClr val="94A3B8"/>
                </a:solidFill>
                <a:latin typeface="Inter Medium"/>
                <a:ea typeface="Inter Medium"/>
                <a:cs typeface="Inter Medium"/>
                <a:sym typeface="Inter Medium"/>
              </a:endParaRPr>
            </a:p>
          </p:txBody>
        </p:sp>
      </p:grpSp>
      <p:grpSp>
        <p:nvGrpSpPr>
          <p:cNvPr id="145" name="Google Shape;145;p16"/>
          <p:cNvGrpSpPr/>
          <p:nvPr/>
        </p:nvGrpSpPr>
        <p:grpSpPr>
          <a:xfrm>
            <a:off x="381000" y="381000"/>
            <a:ext cx="304800" cy="304800"/>
            <a:chOff x="0" y="0"/>
            <a:chExt cx="304800" cy="304800"/>
          </a:xfrm>
        </p:grpSpPr>
        <p:sp>
          <p:nvSpPr>
            <p:cNvPr id="146" name="Google Shape;146;p16"/>
            <p:cNvSpPr/>
            <p:nvPr/>
          </p:nvSpPr>
          <p:spPr>
            <a:xfrm>
              <a:off x="0" y="0"/>
              <a:ext cx="304800" cy="304800"/>
            </a:xfrm>
            <a:prstGeom prst="roundRect">
              <a:avLst>
                <a:gd name="adj" fmla="val 12500"/>
              </a:avLst>
            </a:prstGeom>
            <a:solidFill>
              <a:srgbClr val="000000">
                <a:alpha val="0"/>
              </a:srgbClr>
            </a:solidFill>
            <a:ln w="19050" cap="flat" cmpd="sng">
              <a:solidFill>
                <a:srgbClr val="0F172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7" name="Google Shape;147;p16"/>
            <p:cNvSpPr/>
            <p:nvPr/>
          </p:nvSpPr>
          <p:spPr>
            <a:xfrm>
              <a:off x="57150" y="57150"/>
              <a:ext cx="76200" cy="762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8" name="Google Shape;148;p16"/>
            <p:cNvSpPr/>
            <p:nvPr/>
          </p:nvSpPr>
          <p:spPr>
            <a:xfrm>
              <a:off x="171450" y="57150"/>
              <a:ext cx="76200" cy="762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9" name="Google Shape;149;p16"/>
            <p:cNvSpPr/>
            <p:nvPr/>
          </p:nvSpPr>
          <p:spPr>
            <a:xfrm>
              <a:off x="57150" y="171450"/>
              <a:ext cx="76200" cy="762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0" name="Google Shape;150;p16"/>
            <p:cNvSpPr/>
            <p:nvPr/>
          </p:nvSpPr>
          <p:spPr>
            <a:xfrm>
              <a:off x="171450" y="171450"/>
              <a:ext cx="38100" cy="381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1" name="Google Shape;151;p16"/>
            <p:cNvSpPr/>
            <p:nvPr/>
          </p:nvSpPr>
          <p:spPr>
            <a:xfrm>
              <a:off x="209550" y="209550"/>
              <a:ext cx="38100" cy="38100"/>
            </a:xfrm>
            <a:prstGeom prst="roundRect">
              <a:avLst>
                <a:gd name="adj" fmla="val 12500"/>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pic>
        <p:nvPicPr>
          <p:cNvPr id="3" name="Google Shape;79;p15">
            <a:extLst>
              <a:ext uri="{FF2B5EF4-FFF2-40B4-BE49-F238E27FC236}">
                <a16:creationId xmlns:a16="http://schemas.microsoft.com/office/drawing/2014/main" id="{75B10872-5DF0-68DC-AF6B-2303A1F9A103}"/>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bright="-16000"/>
                    </a14:imgEffect>
                  </a14:imgLayer>
                </a14:imgProps>
              </a:ext>
            </a:extLst>
          </a:blip>
          <a:src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390</Words>
  <Application>Microsoft Office PowerPoint</Application>
  <PresentationFormat>On-screen Show (16:9)</PresentationFormat>
  <Paragraphs>26</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Inter Medium</vt:lpstr>
      <vt:lpstr>Inter SemiBold</vt:lpstr>
      <vt:lpstr>Arial</vt:lpstr>
      <vt:lpstr>Inter ExtraBold</vt:lpstr>
      <vt:lpstr>Inter</vt:lpstr>
      <vt:lpstr>Simple Light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Shaurya Joshi</cp:lastModifiedBy>
  <cp:revision>1</cp:revision>
  <dcterms:modified xsi:type="dcterms:W3CDTF">2026-06-10T05:14:57Z</dcterms:modified>
</cp:coreProperties>
</file>